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22" d="100"/>
          <a:sy n="122" d="100"/>
        </p:scale>
        <p:origin x="96" y="3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PH"/>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PH"/>
          </a:p>
        </p:txBody>
      </p:sp>
      <p:sp>
        <p:nvSpPr>
          <p:cNvPr id="4" name="Date Placeholder 3"/>
          <p:cNvSpPr>
            <a:spLocks noGrp="1"/>
          </p:cNvSpPr>
          <p:nvPr>
            <p:ph type="dt" sz="half" idx="10"/>
          </p:nvPr>
        </p:nvSpPr>
        <p:spPr/>
        <p:txBody>
          <a:bodyPr/>
          <a:lstStyle/>
          <a:p>
            <a:fld id="{23A33D29-085B-48C5-B735-41C8908D82E8}" type="datetimeFigureOut">
              <a:rPr lang="en-PH" smtClean="0"/>
              <a:t>2015-07-22</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E869AF12-8583-4099-AD07-2FB852C47561}" type="slidenum">
              <a:rPr lang="en-PH" smtClean="0"/>
              <a:t>‹#›</a:t>
            </a:fld>
            <a:endParaRPr lang="en-PH"/>
          </a:p>
        </p:txBody>
      </p:sp>
    </p:spTree>
    <p:extLst>
      <p:ext uri="{BB962C8B-B14F-4D97-AF65-F5344CB8AC3E}">
        <p14:creationId xmlns:p14="http://schemas.microsoft.com/office/powerpoint/2010/main" val="27579470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PH"/>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4" name="Date Placeholder 3"/>
          <p:cNvSpPr>
            <a:spLocks noGrp="1"/>
          </p:cNvSpPr>
          <p:nvPr>
            <p:ph type="dt" sz="half" idx="10"/>
          </p:nvPr>
        </p:nvSpPr>
        <p:spPr/>
        <p:txBody>
          <a:bodyPr/>
          <a:lstStyle/>
          <a:p>
            <a:fld id="{23A33D29-085B-48C5-B735-41C8908D82E8}" type="datetimeFigureOut">
              <a:rPr lang="en-PH" smtClean="0"/>
              <a:t>2015-07-22</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E869AF12-8583-4099-AD07-2FB852C47561}" type="slidenum">
              <a:rPr lang="en-PH" smtClean="0"/>
              <a:t>‹#›</a:t>
            </a:fld>
            <a:endParaRPr lang="en-PH"/>
          </a:p>
        </p:txBody>
      </p:sp>
    </p:spTree>
    <p:extLst>
      <p:ext uri="{BB962C8B-B14F-4D97-AF65-F5344CB8AC3E}">
        <p14:creationId xmlns:p14="http://schemas.microsoft.com/office/powerpoint/2010/main" val="30849314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PH"/>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3A33D29-085B-48C5-B735-41C8908D82E8}" type="datetimeFigureOut">
              <a:rPr lang="en-PH" smtClean="0"/>
              <a:t>2015-07-22</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E869AF12-8583-4099-AD07-2FB852C47561}" type="slidenum">
              <a:rPr lang="en-PH" smtClean="0"/>
              <a:t>‹#›</a:t>
            </a:fld>
            <a:endParaRPr lang="en-PH"/>
          </a:p>
        </p:txBody>
      </p:sp>
    </p:spTree>
    <p:extLst>
      <p:ext uri="{BB962C8B-B14F-4D97-AF65-F5344CB8AC3E}">
        <p14:creationId xmlns:p14="http://schemas.microsoft.com/office/powerpoint/2010/main" val="21978423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PH"/>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5" name="Date Placeholder 4"/>
          <p:cNvSpPr>
            <a:spLocks noGrp="1"/>
          </p:cNvSpPr>
          <p:nvPr>
            <p:ph type="dt" sz="half" idx="10"/>
          </p:nvPr>
        </p:nvSpPr>
        <p:spPr/>
        <p:txBody>
          <a:bodyPr/>
          <a:lstStyle/>
          <a:p>
            <a:fld id="{23A33D29-085B-48C5-B735-41C8908D82E8}" type="datetimeFigureOut">
              <a:rPr lang="en-PH" smtClean="0"/>
              <a:t>2015-07-22</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E869AF12-8583-4099-AD07-2FB852C47561}" type="slidenum">
              <a:rPr lang="en-PH" smtClean="0"/>
              <a:t>‹#›</a:t>
            </a:fld>
            <a:endParaRPr lang="en-PH"/>
          </a:p>
        </p:txBody>
      </p:sp>
    </p:spTree>
    <p:extLst>
      <p:ext uri="{BB962C8B-B14F-4D97-AF65-F5344CB8AC3E}">
        <p14:creationId xmlns:p14="http://schemas.microsoft.com/office/powerpoint/2010/main" val="614477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PH"/>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7" name="Date Placeholder 6"/>
          <p:cNvSpPr>
            <a:spLocks noGrp="1"/>
          </p:cNvSpPr>
          <p:nvPr>
            <p:ph type="dt" sz="half" idx="10"/>
          </p:nvPr>
        </p:nvSpPr>
        <p:spPr/>
        <p:txBody>
          <a:bodyPr/>
          <a:lstStyle/>
          <a:p>
            <a:fld id="{23A33D29-085B-48C5-B735-41C8908D82E8}" type="datetimeFigureOut">
              <a:rPr lang="en-PH" smtClean="0"/>
              <a:t>2015-07-22</a:t>
            </a:fld>
            <a:endParaRPr lang="en-PH"/>
          </a:p>
        </p:txBody>
      </p:sp>
      <p:sp>
        <p:nvSpPr>
          <p:cNvPr id="8" name="Footer Placeholder 7"/>
          <p:cNvSpPr>
            <a:spLocks noGrp="1"/>
          </p:cNvSpPr>
          <p:nvPr>
            <p:ph type="ftr" sz="quarter" idx="11"/>
          </p:nvPr>
        </p:nvSpPr>
        <p:spPr/>
        <p:txBody>
          <a:bodyPr/>
          <a:lstStyle/>
          <a:p>
            <a:endParaRPr lang="en-PH"/>
          </a:p>
        </p:txBody>
      </p:sp>
      <p:sp>
        <p:nvSpPr>
          <p:cNvPr id="9" name="Slide Number Placeholder 8"/>
          <p:cNvSpPr>
            <a:spLocks noGrp="1"/>
          </p:cNvSpPr>
          <p:nvPr>
            <p:ph type="sldNum" sz="quarter" idx="12"/>
          </p:nvPr>
        </p:nvSpPr>
        <p:spPr/>
        <p:txBody>
          <a:bodyPr/>
          <a:lstStyle/>
          <a:p>
            <a:fld id="{E869AF12-8583-4099-AD07-2FB852C47561}" type="slidenum">
              <a:rPr lang="en-PH" smtClean="0"/>
              <a:t>‹#›</a:t>
            </a:fld>
            <a:endParaRPr lang="en-PH"/>
          </a:p>
        </p:txBody>
      </p:sp>
    </p:spTree>
    <p:extLst>
      <p:ext uri="{BB962C8B-B14F-4D97-AF65-F5344CB8AC3E}">
        <p14:creationId xmlns:p14="http://schemas.microsoft.com/office/powerpoint/2010/main" val="23396168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PH"/>
          </a:p>
        </p:txBody>
      </p:sp>
      <p:sp>
        <p:nvSpPr>
          <p:cNvPr id="3" name="Date Placeholder 2"/>
          <p:cNvSpPr>
            <a:spLocks noGrp="1"/>
          </p:cNvSpPr>
          <p:nvPr>
            <p:ph type="dt" sz="half" idx="10"/>
          </p:nvPr>
        </p:nvSpPr>
        <p:spPr/>
        <p:txBody>
          <a:bodyPr/>
          <a:lstStyle/>
          <a:p>
            <a:fld id="{23A33D29-085B-48C5-B735-41C8908D82E8}" type="datetimeFigureOut">
              <a:rPr lang="en-PH" smtClean="0"/>
              <a:t>2015-07-22</a:t>
            </a:fld>
            <a:endParaRPr lang="en-PH"/>
          </a:p>
        </p:txBody>
      </p:sp>
      <p:sp>
        <p:nvSpPr>
          <p:cNvPr id="4" name="Footer Placeholder 3"/>
          <p:cNvSpPr>
            <a:spLocks noGrp="1"/>
          </p:cNvSpPr>
          <p:nvPr>
            <p:ph type="ftr" sz="quarter" idx="11"/>
          </p:nvPr>
        </p:nvSpPr>
        <p:spPr/>
        <p:txBody>
          <a:bodyPr/>
          <a:lstStyle/>
          <a:p>
            <a:endParaRPr lang="en-PH"/>
          </a:p>
        </p:txBody>
      </p:sp>
      <p:sp>
        <p:nvSpPr>
          <p:cNvPr id="5" name="Slide Number Placeholder 4"/>
          <p:cNvSpPr>
            <a:spLocks noGrp="1"/>
          </p:cNvSpPr>
          <p:nvPr>
            <p:ph type="sldNum" sz="quarter" idx="12"/>
          </p:nvPr>
        </p:nvSpPr>
        <p:spPr/>
        <p:txBody>
          <a:bodyPr/>
          <a:lstStyle/>
          <a:p>
            <a:fld id="{E869AF12-8583-4099-AD07-2FB852C47561}" type="slidenum">
              <a:rPr lang="en-PH" smtClean="0"/>
              <a:t>‹#›</a:t>
            </a:fld>
            <a:endParaRPr lang="en-PH"/>
          </a:p>
        </p:txBody>
      </p:sp>
    </p:spTree>
    <p:extLst>
      <p:ext uri="{BB962C8B-B14F-4D97-AF65-F5344CB8AC3E}">
        <p14:creationId xmlns:p14="http://schemas.microsoft.com/office/powerpoint/2010/main" val="6005454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3A33D29-085B-48C5-B735-41C8908D82E8}" type="datetimeFigureOut">
              <a:rPr lang="en-PH" smtClean="0"/>
              <a:t>2015-07-22</a:t>
            </a:fld>
            <a:endParaRPr lang="en-PH"/>
          </a:p>
        </p:txBody>
      </p:sp>
      <p:sp>
        <p:nvSpPr>
          <p:cNvPr id="3" name="Footer Placeholder 2"/>
          <p:cNvSpPr>
            <a:spLocks noGrp="1"/>
          </p:cNvSpPr>
          <p:nvPr>
            <p:ph type="ftr" sz="quarter" idx="11"/>
          </p:nvPr>
        </p:nvSpPr>
        <p:spPr/>
        <p:txBody>
          <a:bodyPr/>
          <a:lstStyle/>
          <a:p>
            <a:endParaRPr lang="en-PH"/>
          </a:p>
        </p:txBody>
      </p:sp>
      <p:sp>
        <p:nvSpPr>
          <p:cNvPr id="4" name="Slide Number Placeholder 3"/>
          <p:cNvSpPr>
            <a:spLocks noGrp="1"/>
          </p:cNvSpPr>
          <p:nvPr>
            <p:ph type="sldNum" sz="quarter" idx="12"/>
          </p:nvPr>
        </p:nvSpPr>
        <p:spPr/>
        <p:txBody>
          <a:bodyPr/>
          <a:lstStyle/>
          <a:p>
            <a:fld id="{E869AF12-8583-4099-AD07-2FB852C47561}" type="slidenum">
              <a:rPr lang="en-PH" smtClean="0"/>
              <a:t>‹#›</a:t>
            </a:fld>
            <a:endParaRPr lang="en-PH"/>
          </a:p>
        </p:txBody>
      </p:sp>
    </p:spTree>
    <p:extLst>
      <p:ext uri="{BB962C8B-B14F-4D97-AF65-F5344CB8AC3E}">
        <p14:creationId xmlns:p14="http://schemas.microsoft.com/office/powerpoint/2010/main" val="31446921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PH"/>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3A33D29-085B-48C5-B735-41C8908D82E8}" type="datetimeFigureOut">
              <a:rPr lang="en-PH" smtClean="0"/>
              <a:t>2015-07-22</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E869AF12-8583-4099-AD07-2FB852C47561}" type="slidenum">
              <a:rPr lang="en-PH" smtClean="0"/>
              <a:t>‹#›</a:t>
            </a:fld>
            <a:endParaRPr lang="en-PH"/>
          </a:p>
        </p:txBody>
      </p:sp>
    </p:spTree>
    <p:extLst>
      <p:ext uri="{BB962C8B-B14F-4D97-AF65-F5344CB8AC3E}">
        <p14:creationId xmlns:p14="http://schemas.microsoft.com/office/powerpoint/2010/main" val="14150686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PH"/>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H"/>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3A33D29-085B-48C5-B735-41C8908D82E8}" type="datetimeFigureOut">
              <a:rPr lang="en-PH" smtClean="0"/>
              <a:t>2015-07-22</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E869AF12-8583-4099-AD07-2FB852C47561}" type="slidenum">
              <a:rPr lang="en-PH" smtClean="0"/>
              <a:t>‹#›</a:t>
            </a:fld>
            <a:endParaRPr lang="en-PH"/>
          </a:p>
        </p:txBody>
      </p:sp>
    </p:spTree>
    <p:extLst>
      <p:ext uri="{BB962C8B-B14F-4D97-AF65-F5344CB8AC3E}">
        <p14:creationId xmlns:p14="http://schemas.microsoft.com/office/powerpoint/2010/main" val="9712458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PH"/>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4" name="Date Placeholder 3"/>
          <p:cNvSpPr>
            <a:spLocks noGrp="1"/>
          </p:cNvSpPr>
          <p:nvPr>
            <p:ph type="dt" sz="half" idx="10"/>
          </p:nvPr>
        </p:nvSpPr>
        <p:spPr/>
        <p:txBody>
          <a:bodyPr/>
          <a:lstStyle/>
          <a:p>
            <a:fld id="{23A33D29-085B-48C5-B735-41C8908D82E8}" type="datetimeFigureOut">
              <a:rPr lang="en-PH" smtClean="0"/>
              <a:t>2015-07-22</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E869AF12-8583-4099-AD07-2FB852C47561}" type="slidenum">
              <a:rPr lang="en-PH" smtClean="0"/>
              <a:t>‹#›</a:t>
            </a:fld>
            <a:endParaRPr lang="en-PH"/>
          </a:p>
        </p:txBody>
      </p:sp>
    </p:spTree>
    <p:extLst>
      <p:ext uri="{BB962C8B-B14F-4D97-AF65-F5344CB8AC3E}">
        <p14:creationId xmlns:p14="http://schemas.microsoft.com/office/powerpoint/2010/main" val="11948810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PH"/>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4" name="Date Placeholder 3"/>
          <p:cNvSpPr>
            <a:spLocks noGrp="1"/>
          </p:cNvSpPr>
          <p:nvPr>
            <p:ph type="dt" sz="half" idx="10"/>
          </p:nvPr>
        </p:nvSpPr>
        <p:spPr/>
        <p:txBody>
          <a:bodyPr/>
          <a:lstStyle/>
          <a:p>
            <a:fld id="{23A33D29-085B-48C5-B735-41C8908D82E8}" type="datetimeFigureOut">
              <a:rPr lang="en-PH" smtClean="0"/>
              <a:t>2015-07-22</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E869AF12-8583-4099-AD07-2FB852C47561}" type="slidenum">
              <a:rPr lang="en-PH" smtClean="0"/>
              <a:t>‹#›</a:t>
            </a:fld>
            <a:endParaRPr lang="en-PH"/>
          </a:p>
        </p:txBody>
      </p:sp>
    </p:spTree>
    <p:extLst>
      <p:ext uri="{BB962C8B-B14F-4D97-AF65-F5344CB8AC3E}">
        <p14:creationId xmlns:p14="http://schemas.microsoft.com/office/powerpoint/2010/main" val="641843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PH"/>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3A33D29-085B-48C5-B735-41C8908D82E8}" type="datetimeFigureOut">
              <a:rPr lang="en-PH" smtClean="0"/>
              <a:t>2015-07-22</a:t>
            </a:fld>
            <a:endParaRPr lang="en-PH"/>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H"/>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869AF12-8583-4099-AD07-2FB852C47561}" type="slidenum">
              <a:rPr lang="en-PH" smtClean="0"/>
              <a:t>‹#›</a:t>
            </a:fld>
            <a:endParaRPr lang="en-PH"/>
          </a:p>
        </p:txBody>
      </p:sp>
    </p:spTree>
    <p:extLst>
      <p:ext uri="{BB962C8B-B14F-4D97-AF65-F5344CB8AC3E}">
        <p14:creationId xmlns:p14="http://schemas.microsoft.com/office/powerpoint/2010/main" val="3336296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22062" y="126233"/>
            <a:ext cx="5874701" cy="923330"/>
          </a:xfrm>
          <a:prstGeom prst="rect">
            <a:avLst/>
          </a:prstGeom>
        </p:spPr>
        <p:txBody>
          <a:bodyPr wrap="square">
            <a:spAutoFit/>
          </a:bodyPr>
          <a:lstStyle/>
          <a:p>
            <a:pPr algn="just"/>
            <a:r>
              <a:rPr lang="en-PH" sz="900" b="1" dirty="0" smtClean="0"/>
              <a:t>Computational Statistics </a:t>
            </a:r>
            <a:r>
              <a:rPr lang="en-PH" sz="900" dirty="0" smtClean="0"/>
              <a:t>–the emergence of computational statistics was stimulated by the availability of very large data sets. These data are often generated by heterogeneous mechanisms, from unknown process, or from non-random mechanism. The availability of powerful computing facilities and efficient algorithms simplified the analysis of these data. Oftentimes, the methods used are iterative in nature, thus, exact sampling distributions are not mathematically tractable. Computational statistics is a venue where statistical theory evolves from a dominantly nonparametric framework and uses computing technology.</a:t>
            </a:r>
          </a:p>
        </p:txBody>
      </p:sp>
      <p:sp>
        <p:nvSpPr>
          <p:cNvPr id="5" name="Rectangle 4"/>
          <p:cNvSpPr/>
          <p:nvPr/>
        </p:nvSpPr>
        <p:spPr>
          <a:xfrm>
            <a:off x="6016114" y="126233"/>
            <a:ext cx="6023787" cy="923330"/>
          </a:xfrm>
          <a:prstGeom prst="rect">
            <a:avLst/>
          </a:prstGeom>
        </p:spPr>
        <p:txBody>
          <a:bodyPr wrap="square">
            <a:spAutoFit/>
          </a:bodyPr>
          <a:lstStyle/>
          <a:p>
            <a:pPr algn="just"/>
            <a:r>
              <a:rPr lang="en-PH" sz="900" b="1" dirty="0" smtClean="0"/>
              <a:t>Statistical </a:t>
            </a:r>
            <a:r>
              <a:rPr lang="en-PH" sz="900" b="1" dirty="0"/>
              <a:t>Methods for Market Research and Business Intelligence </a:t>
            </a:r>
            <a:r>
              <a:rPr lang="en-PH" sz="900" dirty="0"/>
              <a:t>- from data collected through face-to-face interviews, focused group discussions, product testing, etc., the paradigm of market research is gradually changing. Data is now generated from actual usage/purchase history of consumers, cases where streaming data is generated from continuous consumer activities. While the data collection does not really follow some probabilistic methods, their volume is huge enough to treat it as approximating the population. This area incorporates both the ‘traditional’ and modern methods of market research leading towards business intelligence. </a:t>
            </a:r>
          </a:p>
        </p:txBody>
      </p:sp>
      <p:sp>
        <p:nvSpPr>
          <p:cNvPr id="6" name="Rectangle 5"/>
          <p:cNvSpPr/>
          <p:nvPr/>
        </p:nvSpPr>
        <p:spPr>
          <a:xfrm>
            <a:off x="116098" y="1198056"/>
            <a:ext cx="2878313" cy="5386090"/>
          </a:xfrm>
          <a:prstGeom prst="rect">
            <a:avLst/>
          </a:prstGeom>
        </p:spPr>
        <p:txBody>
          <a:bodyPr wrap="square">
            <a:spAutoFit/>
          </a:bodyPr>
          <a:lstStyle/>
          <a:p>
            <a:pPr algn="just"/>
            <a:r>
              <a:rPr lang="en-PH" sz="800" b="1" dirty="0" smtClean="0"/>
              <a:t>STAT </a:t>
            </a:r>
            <a:r>
              <a:rPr lang="en-PH" sz="800" b="1" dirty="0"/>
              <a:t>210 STATISTICAL SOFTWARE. </a:t>
            </a:r>
            <a:endParaRPr lang="en-PH" sz="800" dirty="0"/>
          </a:p>
          <a:p>
            <a:pPr algn="just"/>
            <a:r>
              <a:rPr lang="en-PH" sz="800" dirty="0"/>
              <a:t>Database management and programming using statistical software. </a:t>
            </a:r>
          </a:p>
          <a:p>
            <a:pPr algn="just"/>
            <a:endParaRPr lang="en-PH" sz="800" b="1" dirty="0" smtClean="0"/>
          </a:p>
          <a:p>
            <a:pPr algn="just"/>
            <a:r>
              <a:rPr lang="en-PH" sz="800" b="1" dirty="0" smtClean="0"/>
              <a:t>STAT </a:t>
            </a:r>
            <a:r>
              <a:rPr lang="en-PH" sz="800" b="1" dirty="0"/>
              <a:t>211 STATISTICAL COMPUTING. </a:t>
            </a:r>
            <a:endParaRPr lang="en-PH" sz="800" dirty="0"/>
          </a:p>
          <a:p>
            <a:pPr algn="just"/>
            <a:r>
              <a:rPr lang="en-PH" sz="800" dirty="0"/>
              <a:t>Algorithms for statistical computing; numerical analysis for linear and nonlinear models; random number generation; Monte Carlo methods. </a:t>
            </a:r>
          </a:p>
          <a:p>
            <a:pPr algn="just"/>
            <a:endParaRPr lang="en-PH" sz="800" dirty="0"/>
          </a:p>
          <a:p>
            <a:pPr algn="just"/>
            <a:r>
              <a:rPr lang="en-PH" sz="800" b="1" dirty="0" smtClean="0"/>
              <a:t>STAT </a:t>
            </a:r>
            <a:r>
              <a:rPr lang="en-PH" sz="800" b="1" dirty="0"/>
              <a:t>226 APPLIED MULTIVARIATE ANALYSIS. </a:t>
            </a:r>
            <a:endParaRPr lang="en-PH" sz="800" dirty="0"/>
          </a:p>
          <a:p>
            <a:pPr algn="just"/>
            <a:r>
              <a:rPr lang="en-PH" sz="800" dirty="0"/>
              <a:t>Multivariate normal distribution; principal components analysis; </a:t>
            </a:r>
            <a:r>
              <a:rPr lang="en-PH" sz="800" dirty="0" err="1"/>
              <a:t>biplots</a:t>
            </a:r>
            <a:r>
              <a:rPr lang="en-PH" sz="800" dirty="0"/>
              <a:t> and h-plots; factor analysis; discriminant analysis; cluster analysis; multidimensional scaling; correspondence analysis; canonical correlation analysis; graphical and data oriented techniques; applications </a:t>
            </a:r>
          </a:p>
          <a:p>
            <a:pPr algn="just"/>
            <a:r>
              <a:rPr lang="en-PH" sz="800" dirty="0"/>
              <a:t>Co-requisite: Stat 223 or its equivalent 	</a:t>
            </a:r>
          </a:p>
          <a:p>
            <a:pPr algn="just"/>
            <a:endParaRPr lang="en-PH" sz="800" dirty="0" smtClean="0"/>
          </a:p>
          <a:p>
            <a:pPr algn="just"/>
            <a:r>
              <a:rPr lang="en-PH" sz="800" b="1" dirty="0"/>
              <a:t>STAT 240 HIGH DIMENSIONAL DATA . </a:t>
            </a:r>
            <a:endParaRPr lang="en-PH" sz="800" dirty="0"/>
          </a:p>
          <a:p>
            <a:pPr algn="just"/>
            <a:r>
              <a:rPr lang="en-PH" sz="800" dirty="0"/>
              <a:t>High dimensional data; high dimensional data visualization; high dimensional data analysis; dimension reduction; pattern search; clustering; applications </a:t>
            </a:r>
          </a:p>
          <a:p>
            <a:pPr algn="just"/>
            <a:r>
              <a:rPr lang="en-PH" sz="800" dirty="0"/>
              <a:t>Pre-requisite: Stat 226/Equivalent, Stat 223/Equivalent </a:t>
            </a:r>
          </a:p>
          <a:p>
            <a:pPr algn="just"/>
            <a:endParaRPr lang="en-PH" sz="800" dirty="0" smtClean="0"/>
          </a:p>
          <a:p>
            <a:pPr algn="just"/>
            <a:r>
              <a:rPr lang="en-PH" sz="800" b="1" dirty="0"/>
              <a:t>STAT 247 DATA MINING AND BUSINESS INTELLIGENCE. </a:t>
            </a:r>
            <a:endParaRPr lang="en-PH" sz="800" dirty="0"/>
          </a:p>
          <a:p>
            <a:pPr algn="just"/>
            <a:r>
              <a:rPr lang="en-PH" sz="800" dirty="0"/>
              <a:t>Principles of data mining; methods of data mining; themes of data mining; applications of data mining in business intelligence. </a:t>
            </a:r>
          </a:p>
          <a:p>
            <a:pPr algn="just"/>
            <a:r>
              <a:rPr lang="en-PH" sz="800" dirty="0"/>
              <a:t>Pre-requisite: Pre-requisite: Stat 210/Equivalent, Stat 226/Equivalent, </a:t>
            </a:r>
          </a:p>
          <a:p>
            <a:pPr algn="just"/>
            <a:r>
              <a:rPr lang="en-PH" sz="800" dirty="0"/>
              <a:t>Co-requisite: Stat 223/Equivalent, and Stat 225/Equivalent </a:t>
            </a:r>
          </a:p>
          <a:p>
            <a:pPr algn="just"/>
            <a:endParaRPr lang="en-PH" sz="800" b="1" dirty="0" smtClean="0"/>
          </a:p>
          <a:p>
            <a:pPr algn="just"/>
            <a:r>
              <a:rPr lang="en-PH" sz="800" b="1" dirty="0" smtClean="0"/>
              <a:t>STAT </a:t>
            </a:r>
            <a:r>
              <a:rPr lang="en-PH" sz="800" b="1" dirty="0"/>
              <a:t>249 NONPARAMETRIC MODELING. </a:t>
            </a:r>
            <a:endParaRPr lang="en-PH" sz="800" dirty="0"/>
          </a:p>
          <a:p>
            <a:pPr algn="just"/>
            <a:r>
              <a:rPr lang="en-PH" sz="800" dirty="0"/>
              <a:t>Smoothing methods; kernel smoothing; spline smoothing; regression trees; projection pursuit; nonparametric regression; cross-validation; scoring; high dimensional predictors; additive models; </a:t>
            </a:r>
            <a:r>
              <a:rPr lang="en-PH" sz="800" dirty="0" err="1"/>
              <a:t>backfitting</a:t>
            </a:r>
            <a:r>
              <a:rPr lang="en-PH" sz="800" dirty="0"/>
              <a:t>. </a:t>
            </a:r>
          </a:p>
          <a:p>
            <a:pPr algn="just"/>
            <a:r>
              <a:rPr lang="en-PH" sz="800" dirty="0"/>
              <a:t>Pre-requisite: Stat 222/232 and Stat </a:t>
            </a:r>
            <a:r>
              <a:rPr lang="en-PH" sz="800" dirty="0" smtClean="0"/>
              <a:t>223/Equivalent</a:t>
            </a:r>
          </a:p>
          <a:p>
            <a:pPr algn="just"/>
            <a:endParaRPr lang="en-PH" sz="800" dirty="0"/>
          </a:p>
          <a:p>
            <a:pPr algn="just"/>
            <a:r>
              <a:rPr lang="en-PH" sz="800" b="1" dirty="0" smtClean="0"/>
              <a:t>STAT 252 BOOTSTRAP METHODS. </a:t>
            </a:r>
            <a:endParaRPr lang="en-PH" sz="800" dirty="0" smtClean="0"/>
          </a:p>
          <a:p>
            <a:pPr algn="just"/>
            <a:r>
              <a:rPr lang="en-PH" sz="800" dirty="0" smtClean="0"/>
              <a:t>Empirical distribution functions; resampling and nonparametric statistical inference; optimality of the bootstrap; bootstrap in hypothesis testing; bootstrap in confidence intervals; bootstrap in regression models; bootstrap for dependent data. </a:t>
            </a:r>
          </a:p>
          <a:p>
            <a:pPr algn="just"/>
            <a:r>
              <a:rPr lang="en-PH" sz="800" dirty="0" smtClean="0"/>
              <a:t>Pre-requisite: Stat 222/232 and Stat 223/Equivalent</a:t>
            </a:r>
            <a:endParaRPr lang="en-PH" sz="800" dirty="0"/>
          </a:p>
        </p:txBody>
      </p:sp>
      <p:sp>
        <p:nvSpPr>
          <p:cNvPr id="7" name="Rectangle 6"/>
          <p:cNvSpPr/>
          <p:nvPr/>
        </p:nvSpPr>
        <p:spPr>
          <a:xfrm>
            <a:off x="2988448" y="1144700"/>
            <a:ext cx="2878313" cy="3170099"/>
          </a:xfrm>
          <a:prstGeom prst="rect">
            <a:avLst/>
          </a:prstGeom>
        </p:spPr>
        <p:txBody>
          <a:bodyPr wrap="square">
            <a:spAutoFit/>
          </a:bodyPr>
          <a:lstStyle/>
          <a:p>
            <a:pPr algn="just"/>
            <a:r>
              <a:rPr lang="en-PH" sz="800" b="1" dirty="0" smtClean="0"/>
              <a:t>STAT </a:t>
            </a:r>
            <a:r>
              <a:rPr lang="en-PH" sz="800" b="1" dirty="0"/>
              <a:t>262 NONPARAMETRIC STATISTICS. </a:t>
            </a:r>
            <a:endParaRPr lang="en-PH" sz="800" dirty="0"/>
          </a:p>
          <a:p>
            <a:pPr algn="just"/>
            <a:r>
              <a:rPr lang="en-PH" sz="800" dirty="0"/>
              <a:t>Distribution-free statistics; U-statistics; power functions; asymptotic relative efficiency of tests; confidence intervals and bounds; point estimation; linear rank statistics; other methods for constructing distribution-free procedures. </a:t>
            </a:r>
          </a:p>
          <a:p>
            <a:pPr algn="just"/>
            <a:r>
              <a:rPr lang="en-PH" sz="800" dirty="0"/>
              <a:t>Pre-requisite: Stat 232 	</a:t>
            </a:r>
            <a:endParaRPr lang="en-PH" sz="800" dirty="0" smtClean="0"/>
          </a:p>
          <a:p>
            <a:pPr algn="just"/>
            <a:endParaRPr lang="en-PH" sz="800" dirty="0"/>
          </a:p>
          <a:p>
            <a:pPr algn="just"/>
            <a:r>
              <a:rPr lang="en-PH" sz="800" b="1" dirty="0"/>
              <a:t>STAT 265 ROBUST STATISTICS. </a:t>
            </a:r>
            <a:endParaRPr lang="en-PH" sz="800" dirty="0"/>
          </a:p>
          <a:p>
            <a:pPr algn="just"/>
            <a:r>
              <a:rPr lang="en-PH" sz="800" dirty="0"/>
              <a:t>Breakdown point and robust estimators; M-, R-, and L- estimates; robust tests; robust regression and outlier detection. </a:t>
            </a:r>
          </a:p>
          <a:p>
            <a:pPr algn="just"/>
            <a:r>
              <a:rPr lang="en-PH" sz="800" dirty="0"/>
              <a:t>Pre-requisite: Stat 232 </a:t>
            </a:r>
          </a:p>
          <a:p>
            <a:pPr algn="just"/>
            <a:endParaRPr lang="en-PH" sz="800" dirty="0" smtClean="0"/>
          </a:p>
          <a:p>
            <a:pPr algn="just"/>
            <a:r>
              <a:rPr lang="en-PH" sz="800" b="1" dirty="0" smtClean="0"/>
              <a:t>STAT </a:t>
            </a:r>
            <a:r>
              <a:rPr lang="en-PH" sz="800" b="1" dirty="0"/>
              <a:t>267 ADVANCED APPLIED MULTIVARIATE ANALYSIS. </a:t>
            </a:r>
            <a:endParaRPr lang="en-PH" sz="800" dirty="0"/>
          </a:p>
          <a:p>
            <a:pPr algn="just"/>
            <a:r>
              <a:rPr lang="en-PH" sz="800" dirty="0"/>
              <a:t>Confirmatory factor analysis; multidimensional scaling; correspondence analysis; classification trees; CHAID; </a:t>
            </a:r>
            <a:r>
              <a:rPr lang="en-PH" sz="800" dirty="0" err="1"/>
              <a:t>procrustes</a:t>
            </a:r>
            <a:r>
              <a:rPr lang="en-PH" sz="800" dirty="0"/>
              <a:t> analysis; neural networks; structural equation </a:t>
            </a:r>
            <a:r>
              <a:rPr lang="en-PH" sz="800" dirty="0" err="1"/>
              <a:t>modeling</a:t>
            </a:r>
            <a:r>
              <a:rPr lang="en-PH" sz="800" dirty="0"/>
              <a:t>. </a:t>
            </a:r>
          </a:p>
          <a:p>
            <a:pPr algn="just"/>
            <a:r>
              <a:rPr lang="en-PH" sz="800" dirty="0"/>
              <a:t>Pre-requisite: Stat 226 or equivalent/COI </a:t>
            </a:r>
            <a:endParaRPr lang="en-PH" sz="800" dirty="0" smtClean="0"/>
          </a:p>
          <a:p>
            <a:pPr algn="just"/>
            <a:r>
              <a:rPr lang="en-PH" sz="800" dirty="0"/>
              <a:t>	</a:t>
            </a:r>
          </a:p>
          <a:p>
            <a:pPr algn="just"/>
            <a:r>
              <a:rPr lang="en-PH" sz="800" b="1" dirty="0"/>
              <a:t>STAT 277 STATISTICS FOR IMAG E AN ALYS IS. </a:t>
            </a:r>
            <a:endParaRPr lang="en-PH" sz="800" dirty="0"/>
          </a:p>
          <a:p>
            <a:pPr algn="just"/>
            <a:r>
              <a:rPr lang="en-PH" sz="800" dirty="0"/>
              <a:t>Radiometric enhancement techniques; geometric enhancement using image domain techniques; multispectral transformation of data; supervised classification techniques; clustering and unsupervised classification; applications. </a:t>
            </a:r>
          </a:p>
          <a:p>
            <a:pPr algn="just"/>
            <a:r>
              <a:rPr lang="en-PH" sz="800" dirty="0"/>
              <a:t>Pre-requisite: Consent of Instructor </a:t>
            </a:r>
          </a:p>
          <a:p>
            <a:pPr algn="just"/>
            <a:endParaRPr lang="en-PH" sz="800" dirty="0"/>
          </a:p>
        </p:txBody>
      </p:sp>
      <p:sp>
        <p:nvSpPr>
          <p:cNvPr id="8" name="Rectangle 7"/>
          <p:cNvSpPr/>
          <p:nvPr/>
        </p:nvSpPr>
        <p:spPr>
          <a:xfrm>
            <a:off x="6016114" y="1144700"/>
            <a:ext cx="2880537" cy="4647426"/>
          </a:xfrm>
          <a:prstGeom prst="rect">
            <a:avLst/>
          </a:prstGeom>
        </p:spPr>
        <p:txBody>
          <a:bodyPr wrap="square">
            <a:spAutoFit/>
          </a:bodyPr>
          <a:lstStyle/>
          <a:p>
            <a:pPr algn="just"/>
            <a:r>
              <a:rPr lang="en-PH" sz="800" b="1" dirty="0" smtClean="0"/>
              <a:t>STAT 210 STATISTICAL SOFTWARE. </a:t>
            </a:r>
            <a:endParaRPr lang="en-PH" sz="800" dirty="0" smtClean="0"/>
          </a:p>
          <a:p>
            <a:pPr algn="just"/>
            <a:r>
              <a:rPr lang="en-PH" sz="800" dirty="0" smtClean="0"/>
              <a:t>Database management and programming using statistical software. </a:t>
            </a:r>
          </a:p>
          <a:p>
            <a:pPr algn="just"/>
            <a:endParaRPr lang="en-PH" sz="800" dirty="0" smtClean="0"/>
          </a:p>
          <a:p>
            <a:pPr algn="just"/>
            <a:r>
              <a:rPr lang="en-PH" sz="800" b="1" dirty="0" smtClean="0"/>
              <a:t>STAT 211 STATISTICAL COMPUTING. </a:t>
            </a:r>
            <a:endParaRPr lang="en-PH" sz="800" dirty="0" smtClean="0"/>
          </a:p>
          <a:p>
            <a:pPr algn="just"/>
            <a:r>
              <a:rPr lang="en-PH" sz="800" dirty="0" smtClean="0"/>
              <a:t>Algorithms for statistical computing; numerical analysis for linear and nonlinear models; random number generation; Monte Carlo methods. </a:t>
            </a:r>
          </a:p>
          <a:p>
            <a:pPr algn="just"/>
            <a:endParaRPr lang="en-PH" sz="800" dirty="0"/>
          </a:p>
          <a:p>
            <a:pPr algn="just"/>
            <a:r>
              <a:rPr lang="en-PH" sz="800" b="1" dirty="0" smtClean="0"/>
              <a:t>STAT </a:t>
            </a:r>
            <a:r>
              <a:rPr lang="en-PH" sz="800" b="1" dirty="0"/>
              <a:t>225 TIME SERIES ANALYSIS. </a:t>
            </a:r>
            <a:endParaRPr lang="en-PH" sz="800" dirty="0"/>
          </a:p>
          <a:p>
            <a:pPr algn="just"/>
            <a:r>
              <a:rPr lang="en-PH" sz="800" dirty="0"/>
              <a:t>Classical procedures; </a:t>
            </a:r>
            <a:r>
              <a:rPr lang="en-PH" sz="800" dirty="0" err="1"/>
              <a:t>stationarity</a:t>
            </a:r>
            <a:r>
              <a:rPr lang="en-PH" sz="800" dirty="0"/>
              <a:t>; Box-Jerkins </a:t>
            </a:r>
            <a:r>
              <a:rPr lang="en-PH" sz="800" dirty="0" err="1"/>
              <a:t>modeling</a:t>
            </a:r>
            <a:r>
              <a:rPr lang="en-PH" sz="800" dirty="0"/>
              <a:t> procedure: autocorrelation function, partial autocorrelation function; identification, estimation, diagnostic checking, forecasting; transfer functions; applications. </a:t>
            </a:r>
          </a:p>
          <a:p>
            <a:pPr algn="just"/>
            <a:r>
              <a:rPr lang="en-PH" sz="800" dirty="0"/>
              <a:t>Pre-requisite: Stat 223 or equivalent </a:t>
            </a:r>
          </a:p>
          <a:p>
            <a:pPr algn="just"/>
            <a:endParaRPr lang="en-PH" sz="800" dirty="0"/>
          </a:p>
          <a:p>
            <a:pPr algn="just"/>
            <a:r>
              <a:rPr lang="en-PH" sz="800" b="1" dirty="0" smtClean="0"/>
              <a:t>STAT </a:t>
            </a:r>
            <a:r>
              <a:rPr lang="en-PH" sz="800" b="1" dirty="0"/>
              <a:t>226 APPLIED MULTIVARIATE ANALYSIS</a:t>
            </a:r>
            <a:r>
              <a:rPr lang="en-PH" sz="800" b="1" dirty="0" smtClean="0"/>
              <a:t>.</a:t>
            </a:r>
            <a:endParaRPr lang="en-PH" sz="800" dirty="0"/>
          </a:p>
          <a:p>
            <a:pPr algn="just"/>
            <a:r>
              <a:rPr lang="en-PH" sz="800" dirty="0"/>
              <a:t>Multivariate normal distribution; principal components analysis; </a:t>
            </a:r>
            <a:r>
              <a:rPr lang="en-PH" sz="800" dirty="0" err="1"/>
              <a:t>biplots</a:t>
            </a:r>
            <a:r>
              <a:rPr lang="en-PH" sz="800" dirty="0"/>
              <a:t> and h-plots; factor analysis; discriminant analysis; cluster analysis; multidimensional scaling; correspondence analysis; canonical correlation analysis; graphical and data oriented techniques; applications </a:t>
            </a:r>
          </a:p>
          <a:p>
            <a:pPr algn="just"/>
            <a:r>
              <a:rPr lang="en-PH" sz="800" dirty="0"/>
              <a:t>Co-requisite: Stat 223 or its equivalent </a:t>
            </a:r>
            <a:endParaRPr lang="en-PH" sz="800" dirty="0" smtClean="0"/>
          </a:p>
          <a:p>
            <a:pPr algn="just"/>
            <a:endParaRPr lang="en-PH" sz="800" dirty="0" smtClean="0"/>
          </a:p>
          <a:p>
            <a:pPr algn="just"/>
            <a:r>
              <a:rPr lang="en-PH" sz="800" b="1" dirty="0"/>
              <a:t>STAT 241 NONLINEAR REGRESSION. </a:t>
            </a:r>
            <a:endParaRPr lang="en-PH" sz="800" dirty="0"/>
          </a:p>
          <a:p>
            <a:pPr algn="just"/>
            <a:r>
              <a:rPr lang="en-PH" sz="800" b="1" dirty="0"/>
              <a:t>C</a:t>
            </a:r>
            <a:r>
              <a:rPr lang="en-PH" sz="800" dirty="0"/>
              <a:t>lassification of nonlinear models; iterative estimation and linear approximation; practical considerations: model specification, starting values, transformations; convergence; </a:t>
            </a:r>
            <a:r>
              <a:rPr lang="en-PH" sz="800" dirty="0" err="1"/>
              <a:t>multiresponse</a:t>
            </a:r>
            <a:r>
              <a:rPr lang="en-PH" sz="800" dirty="0"/>
              <a:t> model; models from differential equations; nonlinear inference regions; measures of nonlinearity; applications. </a:t>
            </a:r>
          </a:p>
          <a:p>
            <a:pPr algn="just"/>
            <a:r>
              <a:rPr lang="en-PH" sz="800" dirty="0"/>
              <a:t>Pre-requisite: Stat 223 or equivalent 	</a:t>
            </a:r>
            <a:endParaRPr lang="en-PH" sz="800" dirty="0" smtClean="0"/>
          </a:p>
          <a:p>
            <a:pPr algn="just"/>
            <a:endParaRPr lang="en-PH" sz="800" dirty="0"/>
          </a:p>
          <a:p>
            <a:pPr algn="just"/>
            <a:r>
              <a:rPr lang="en-PH" sz="800" b="1" dirty="0"/>
              <a:t>STAT 243 CATEGORICAL DATA ANALYSIS. </a:t>
            </a:r>
            <a:endParaRPr lang="en-PH" sz="800" dirty="0"/>
          </a:p>
          <a:p>
            <a:pPr algn="just"/>
            <a:r>
              <a:rPr lang="en-PH" sz="800" dirty="0"/>
              <a:t>Cross-classified tables, multidimensional tables; </a:t>
            </a:r>
            <a:r>
              <a:rPr lang="en-PH" sz="800" dirty="0" err="1"/>
              <a:t>loglinear</a:t>
            </a:r>
            <a:r>
              <a:rPr lang="en-PH" sz="800" dirty="0"/>
              <a:t> model; </a:t>
            </a:r>
            <a:r>
              <a:rPr lang="en-PH" sz="800" dirty="0" err="1"/>
              <a:t>logit</a:t>
            </a:r>
            <a:r>
              <a:rPr lang="en-PH" sz="800" dirty="0"/>
              <a:t> models, measures of association; inference for categorical data; applications </a:t>
            </a:r>
          </a:p>
          <a:p>
            <a:pPr algn="just"/>
            <a:r>
              <a:rPr lang="en-PH" sz="800" dirty="0"/>
              <a:t>Pre-requisite: Stat 223 or equivalent 	</a:t>
            </a:r>
            <a:endParaRPr lang="en-PH" sz="800" dirty="0" smtClean="0"/>
          </a:p>
        </p:txBody>
      </p:sp>
      <p:sp>
        <p:nvSpPr>
          <p:cNvPr id="9" name="Rectangle 8"/>
          <p:cNvSpPr/>
          <p:nvPr/>
        </p:nvSpPr>
        <p:spPr>
          <a:xfrm>
            <a:off x="8896651" y="1144700"/>
            <a:ext cx="3151436" cy="5262979"/>
          </a:xfrm>
          <a:prstGeom prst="rect">
            <a:avLst/>
          </a:prstGeom>
        </p:spPr>
        <p:txBody>
          <a:bodyPr wrap="square">
            <a:spAutoFit/>
          </a:bodyPr>
          <a:lstStyle/>
          <a:p>
            <a:r>
              <a:rPr lang="en-PH" sz="800" b="1" dirty="0" smtClean="0"/>
              <a:t>STAT </a:t>
            </a:r>
            <a:r>
              <a:rPr lang="en-PH" sz="800" b="1" dirty="0"/>
              <a:t>247 DATA MINING AND BUSINESS INTELLIGENCE. </a:t>
            </a:r>
            <a:endParaRPr lang="en-PH" sz="800" dirty="0"/>
          </a:p>
          <a:p>
            <a:r>
              <a:rPr lang="en-PH" sz="800" dirty="0"/>
              <a:t>Principles of data mining; methods of data mining; themes of data mining; applications of data mining in business intelligence. </a:t>
            </a:r>
          </a:p>
          <a:p>
            <a:r>
              <a:rPr lang="en-PH" sz="800" dirty="0"/>
              <a:t>Pre-requisite: Pre-requisite: Stat 210/Equivalent, Stat 226/Equivalent, </a:t>
            </a:r>
          </a:p>
          <a:p>
            <a:r>
              <a:rPr lang="en-PH" sz="800" dirty="0"/>
              <a:t>Co-requisite: Stat 223/Equivalent, and Stat 225/Equivalent 	</a:t>
            </a:r>
            <a:endParaRPr lang="en-PH" sz="800" dirty="0" smtClean="0"/>
          </a:p>
          <a:p>
            <a:endParaRPr lang="en-PH" sz="800" dirty="0" smtClean="0"/>
          </a:p>
          <a:p>
            <a:r>
              <a:rPr lang="en-PH" sz="800" b="1" dirty="0" smtClean="0"/>
              <a:t>STAT </a:t>
            </a:r>
            <a:r>
              <a:rPr lang="en-PH" sz="800" b="1" dirty="0"/>
              <a:t>266 APPLIED NONPARAMETRIC METHODS. </a:t>
            </a:r>
            <a:endParaRPr lang="en-PH" sz="800" dirty="0"/>
          </a:p>
          <a:p>
            <a:r>
              <a:rPr lang="en-PH" sz="800" dirty="0"/>
              <a:t>Methods for single, two and k samples; trends and association; nonparametric bootstrap. </a:t>
            </a:r>
          </a:p>
          <a:p>
            <a:r>
              <a:rPr lang="en-PH" sz="800" dirty="0"/>
              <a:t>Pre-requisite: Stat 222 and Stat 223 </a:t>
            </a:r>
          </a:p>
          <a:p>
            <a:endParaRPr lang="en-PH" sz="800" dirty="0" smtClean="0"/>
          </a:p>
          <a:p>
            <a:r>
              <a:rPr lang="en-PH" sz="800" b="1" dirty="0" smtClean="0"/>
              <a:t>STAT </a:t>
            </a:r>
            <a:r>
              <a:rPr lang="en-PH" sz="800" b="1" dirty="0"/>
              <a:t>267 ADVANCED APPLIED MULTIVARIATE ANALYSIS. </a:t>
            </a:r>
            <a:endParaRPr lang="en-PH" sz="800" dirty="0"/>
          </a:p>
          <a:p>
            <a:r>
              <a:rPr lang="en-PH" sz="800" dirty="0"/>
              <a:t>Confirmatory factor analysis; multidimensional scaling; correspondence analysis; classification trees; CHAID; </a:t>
            </a:r>
            <a:r>
              <a:rPr lang="en-PH" sz="800" dirty="0" err="1"/>
              <a:t>procrustes</a:t>
            </a:r>
            <a:r>
              <a:rPr lang="en-PH" sz="800" dirty="0"/>
              <a:t> analysis; neural networks; structural equation </a:t>
            </a:r>
            <a:r>
              <a:rPr lang="en-PH" sz="800" dirty="0" err="1"/>
              <a:t>modeling</a:t>
            </a:r>
            <a:r>
              <a:rPr lang="en-PH" sz="800" dirty="0"/>
              <a:t>. </a:t>
            </a:r>
          </a:p>
          <a:p>
            <a:r>
              <a:rPr lang="en-PH" sz="800" dirty="0"/>
              <a:t>Pre-requisite: Stat 226 or equivalent/COI </a:t>
            </a:r>
          </a:p>
          <a:p>
            <a:endParaRPr lang="en-PH" sz="800" dirty="0" smtClean="0"/>
          </a:p>
          <a:p>
            <a:r>
              <a:rPr lang="en-PH" sz="800" b="1" dirty="0" smtClean="0"/>
              <a:t>STAT </a:t>
            </a:r>
            <a:r>
              <a:rPr lang="en-PH" sz="800" b="1" dirty="0"/>
              <a:t>268 ADVANCED TIME SERIES ANALYSIS. </a:t>
            </a:r>
            <a:endParaRPr lang="en-PH" sz="800" dirty="0"/>
          </a:p>
          <a:p>
            <a:r>
              <a:rPr lang="en-PH" sz="800" dirty="0" err="1"/>
              <a:t>Nonstationarity</a:t>
            </a:r>
            <a:r>
              <a:rPr lang="en-PH" sz="800" dirty="0"/>
              <a:t>; </a:t>
            </a:r>
            <a:r>
              <a:rPr lang="en-PH" sz="800" dirty="0" err="1"/>
              <a:t>cointegration</a:t>
            </a:r>
            <a:r>
              <a:rPr lang="en-PH" sz="800" dirty="0"/>
              <a:t>; interventions models; state space models; transfer functions; frequency domain; panel data; nonparametric methods for time series; nonparametric prediction; AR-Sieve; block bootstrap </a:t>
            </a:r>
          </a:p>
          <a:p>
            <a:r>
              <a:rPr lang="en-PH" sz="800" dirty="0"/>
              <a:t>Pre-requisite: Stat 223/Equivalent and 225/Equivalent </a:t>
            </a:r>
          </a:p>
          <a:p>
            <a:endParaRPr lang="en-PH" sz="800" dirty="0" smtClean="0"/>
          </a:p>
          <a:p>
            <a:r>
              <a:rPr lang="en-PH" sz="800" b="1" dirty="0" smtClean="0"/>
              <a:t>STAT </a:t>
            </a:r>
            <a:r>
              <a:rPr lang="en-PH" sz="800" b="1" dirty="0"/>
              <a:t>270 EXPLORATORY DATA ANALYSIS. </a:t>
            </a:r>
            <a:endParaRPr lang="en-PH" sz="800" dirty="0"/>
          </a:p>
          <a:p>
            <a:r>
              <a:rPr lang="en-PH" sz="800" dirty="0"/>
              <a:t>Graphical methods; single batch analysis and analysis of several batches; order statistics; resistant estimators; robust tests; robust regression; median polish; applications. </a:t>
            </a:r>
          </a:p>
          <a:p>
            <a:r>
              <a:rPr lang="en-PH" sz="800" dirty="0"/>
              <a:t>Pre-requisite: Stat 222 or equivalent </a:t>
            </a:r>
          </a:p>
          <a:p>
            <a:endParaRPr lang="en-PH" sz="800" dirty="0" smtClean="0"/>
          </a:p>
          <a:p>
            <a:r>
              <a:rPr lang="en-PH" sz="800" b="1" dirty="0" smtClean="0"/>
              <a:t>STAT </a:t>
            </a:r>
            <a:r>
              <a:rPr lang="en-PH" sz="800" b="1" dirty="0"/>
              <a:t>274 MARKET RESEARCH. </a:t>
            </a:r>
            <a:endParaRPr lang="en-PH" sz="800" dirty="0"/>
          </a:p>
          <a:p>
            <a:r>
              <a:rPr lang="en-PH" sz="800" dirty="0"/>
              <a:t>The marketing research; data and data generation in marketing research; analytical methods; consumer </a:t>
            </a:r>
            <a:r>
              <a:rPr lang="en-PH" sz="800" dirty="0" err="1"/>
              <a:t>behavior</a:t>
            </a:r>
            <a:r>
              <a:rPr lang="en-PH" sz="800" dirty="0"/>
              <a:t> </a:t>
            </a:r>
            <a:r>
              <a:rPr lang="en-PH" sz="800" dirty="0" err="1"/>
              <a:t>modeling</a:t>
            </a:r>
            <a:r>
              <a:rPr lang="en-PH" sz="800" dirty="0"/>
              <a:t>. </a:t>
            </a:r>
          </a:p>
          <a:p>
            <a:r>
              <a:rPr lang="en-PH" sz="800" dirty="0"/>
              <a:t>Pre-requisite: Stat 223/Equivalent and Stat 226/Equivalent 	</a:t>
            </a:r>
            <a:endParaRPr lang="en-PH" sz="800" dirty="0" smtClean="0"/>
          </a:p>
          <a:p>
            <a:endParaRPr lang="en-PH" sz="800" dirty="0"/>
          </a:p>
          <a:p>
            <a:r>
              <a:rPr lang="en-PH" sz="800" b="1" dirty="0"/>
              <a:t>STAT 276 STATISTICS FOR GEOGRAPHIC INFORMATION SYSTEMS. </a:t>
            </a:r>
            <a:endParaRPr lang="en-PH" sz="800" dirty="0"/>
          </a:p>
          <a:p>
            <a:r>
              <a:rPr lang="en-PH" sz="800" dirty="0"/>
              <a:t>Components of a geographical information system, data structures and elements of spatial </a:t>
            </a:r>
            <a:r>
              <a:rPr lang="en-PH" sz="800" dirty="0" err="1"/>
              <a:t>modeling</a:t>
            </a:r>
            <a:r>
              <a:rPr lang="en-PH" sz="800" dirty="0"/>
              <a:t>; exploratory spatial data analysis; quadrat analysis, </a:t>
            </a:r>
            <a:r>
              <a:rPr lang="en-PH" sz="800" dirty="0" err="1"/>
              <a:t>tesselations</a:t>
            </a:r>
            <a:r>
              <a:rPr lang="en-PH" sz="800" dirty="0"/>
              <a:t> and spatial autocorrelation; spatial </a:t>
            </a:r>
            <a:r>
              <a:rPr lang="en-PH" sz="800" dirty="0" err="1"/>
              <a:t>modeling</a:t>
            </a:r>
            <a:r>
              <a:rPr lang="en-PH" sz="800" dirty="0"/>
              <a:t> and prediction; some sampling theory; applications. 	</a:t>
            </a:r>
          </a:p>
          <a:p>
            <a:r>
              <a:rPr lang="en-PH" sz="800" dirty="0"/>
              <a:t>Pre-requisite: Consent of Instructor 	</a:t>
            </a:r>
          </a:p>
          <a:p>
            <a:endParaRPr lang="en-PH" sz="800" dirty="0"/>
          </a:p>
        </p:txBody>
      </p:sp>
      <p:sp>
        <p:nvSpPr>
          <p:cNvPr id="10" name="Rectangle 9"/>
          <p:cNvSpPr/>
          <p:nvPr/>
        </p:nvSpPr>
        <p:spPr>
          <a:xfrm>
            <a:off x="3059412" y="4829202"/>
            <a:ext cx="2820235" cy="1631216"/>
          </a:xfrm>
          <a:prstGeom prst="rect">
            <a:avLst/>
          </a:prstGeom>
        </p:spPr>
        <p:txBody>
          <a:bodyPr wrap="square">
            <a:spAutoFit/>
          </a:bodyPr>
          <a:lstStyle/>
          <a:p>
            <a:r>
              <a:rPr lang="en-PH" sz="1000" b="1" dirty="0" smtClean="0"/>
              <a:t>Required Classes</a:t>
            </a:r>
          </a:p>
          <a:p>
            <a:r>
              <a:rPr lang="en-PH" sz="1000" dirty="0" smtClean="0"/>
              <a:t>Stat 100 Calculus and Matrix Algebra for Statistics</a:t>
            </a:r>
          </a:p>
          <a:p>
            <a:r>
              <a:rPr lang="en-PH" sz="1000" dirty="0" smtClean="0"/>
              <a:t>Stat 195 Introduction to Mathematical Statistics</a:t>
            </a:r>
          </a:p>
          <a:p>
            <a:r>
              <a:rPr lang="en-PH" sz="1000" dirty="0" smtClean="0"/>
              <a:t>Stat 221 Introductory Probability</a:t>
            </a:r>
          </a:p>
          <a:p>
            <a:r>
              <a:rPr lang="en-PH" sz="1000" dirty="0" smtClean="0"/>
              <a:t>Stat 251 Survey Operations</a:t>
            </a:r>
          </a:p>
          <a:p>
            <a:r>
              <a:rPr lang="en-PH" sz="1000" dirty="0" smtClean="0"/>
              <a:t>Stat 222 Introduction to Statistical Inference</a:t>
            </a:r>
          </a:p>
          <a:p>
            <a:r>
              <a:rPr lang="en-PH" sz="1000" dirty="0" smtClean="0"/>
              <a:t>Stat 223 Applied Regression Analysis</a:t>
            </a:r>
          </a:p>
          <a:p>
            <a:r>
              <a:rPr lang="en-PH" sz="1000" dirty="0" smtClean="0"/>
              <a:t>Stat 250 Sampling Designs</a:t>
            </a:r>
          </a:p>
          <a:p>
            <a:r>
              <a:rPr lang="en-PH" sz="1000" dirty="0" smtClean="0"/>
              <a:t>Stat 290 Statistical Consulting</a:t>
            </a:r>
          </a:p>
          <a:p>
            <a:r>
              <a:rPr lang="en-PH" sz="1000" dirty="0" smtClean="0"/>
              <a:t>Stat 298 Special Problem</a:t>
            </a:r>
            <a:endParaRPr lang="en-PH" sz="1000" dirty="0"/>
          </a:p>
        </p:txBody>
      </p:sp>
      <p:cxnSp>
        <p:nvCxnSpPr>
          <p:cNvPr id="14" name="Straight Connector 13"/>
          <p:cNvCxnSpPr/>
          <p:nvPr/>
        </p:nvCxnSpPr>
        <p:spPr>
          <a:xfrm>
            <a:off x="3313723" y="4572000"/>
            <a:ext cx="2117969" cy="0"/>
          </a:xfrm>
          <a:prstGeom prst="line">
            <a:avLst/>
          </a:prstGeom>
          <a:ln w="6350">
            <a:solidFill>
              <a:schemeClr val="bg1">
                <a:lumMod val="75000"/>
              </a:schemeClr>
            </a:solidFill>
          </a:ln>
        </p:spPr>
        <p:style>
          <a:lnRef idx="2">
            <a:schemeClr val="dk1"/>
          </a:lnRef>
          <a:fillRef idx="0">
            <a:schemeClr val="dk1"/>
          </a:fillRef>
          <a:effectRef idx="1">
            <a:schemeClr val="dk1"/>
          </a:effectRef>
          <a:fontRef idx="minor">
            <a:schemeClr val="tx1"/>
          </a:fontRef>
        </p:style>
      </p:cxnSp>
      <p:cxnSp>
        <p:nvCxnSpPr>
          <p:cNvPr id="15" name="Straight Connector 14"/>
          <p:cNvCxnSpPr/>
          <p:nvPr/>
        </p:nvCxnSpPr>
        <p:spPr>
          <a:xfrm flipV="1">
            <a:off x="5929018" y="196982"/>
            <a:ext cx="66767" cy="6387164"/>
          </a:xfrm>
          <a:prstGeom prst="line">
            <a:avLst/>
          </a:prstGeom>
          <a:ln w="6350">
            <a:solidFill>
              <a:schemeClr val="bg1">
                <a:lumMod val="75000"/>
              </a:schemeClr>
            </a:solidFill>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9099944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TotalTime>
  <Words>605</Words>
  <Application>Microsoft Office PowerPoint</Application>
  <PresentationFormat>Widescreen</PresentationFormat>
  <Paragraphs>102</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Calibri Light</vt:lpstr>
      <vt:lpstr>Office Theme</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Adrian Cuyugan</dc:creator>
  <cp:lastModifiedBy>Adrian Cuyugan</cp:lastModifiedBy>
  <cp:revision>3</cp:revision>
  <dcterms:created xsi:type="dcterms:W3CDTF">2015-07-22T15:29:13Z</dcterms:created>
  <dcterms:modified xsi:type="dcterms:W3CDTF">2015-07-22T15:41:55Z</dcterms:modified>
</cp:coreProperties>
</file>